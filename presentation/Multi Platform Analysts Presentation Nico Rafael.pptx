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Impact" panose="020B0806030902050204" pitchFamily="34" charset="0"/>
      <p:regular r:id="rId10"/>
    </p:embeddedFont>
    <p:embeddedFont>
      <p:font typeface="Montserrat" panose="020F0502020204030204" pitchFamily="2" charset="0"/>
      <p:regular r:id="rId11"/>
    </p:embeddedFont>
    <p:embeddedFont>
      <p:font typeface="Poppins" panose="020B0502040204020203" pitchFamily="2" charset="0"/>
      <p:regular r:id="rId12"/>
    </p:embeddedFont>
    <p:embeddedFont>
      <p:font typeface="Poppi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658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oxturtle/nicosys-portfolio-ecom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oxturtle/nicosys-portfolio-ecom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hyperlink" Target="https://github.com/oxturtle/nicosys-portfolio-e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oxturtle/nicosys-portfolio-ecom" TargetMode="Externa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hyperlink" Target="https://github.com/oxturtle/nicosys-portfolio-e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llineedisanime.com" TargetMode="External"/><Relationship Id="rId5" Type="http://schemas.openxmlformats.org/officeDocument/2006/relationships/hyperlink" Target="https://github.com/oxturtle/nicosys-portfolio-ecom" TargetMode="Externa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oxturtle/nicosys-portfolio-ecom" TargetMode="External"/><Relationship Id="rId4" Type="http://schemas.openxmlformats.org/officeDocument/2006/relationships/hyperlink" Target="https://www.linkedin.com/in/nrafae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92201" y="1672001"/>
            <a:ext cx="6483261" cy="5316274"/>
          </a:xfrm>
          <a:custGeom>
            <a:avLst/>
            <a:gdLst/>
            <a:ahLst/>
            <a:cxnLst/>
            <a:rect l="l" t="t" r="r" b="b"/>
            <a:pathLst>
              <a:path w="6483261" h="5316274">
                <a:moveTo>
                  <a:pt x="0" y="0"/>
                </a:moveTo>
                <a:lnTo>
                  <a:pt x="6483261" y="0"/>
                </a:lnTo>
                <a:lnTo>
                  <a:pt x="6483261" y="5316274"/>
                </a:lnTo>
                <a:lnTo>
                  <a:pt x="0" y="5316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5481897" y="5578203"/>
            <a:ext cx="7324206" cy="2991595"/>
            <a:chOff x="0" y="0"/>
            <a:chExt cx="9765608" cy="39887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12499" cy="3988793"/>
            </a:xfrm>
            <a:custGeom>
              <a:avLst/>
              <a:gdLst/>
              <a:ahLst/>
              <a:cxnLst/>
              <a:rect l="l" t="t" r="r" b="b"/>
              <a:pathLst>
                <a:path w="3912499" h="3988793">
                  <a:moveTo>
                    <a:pt x="0" y="0"/>
                  </a:moveTo>
                  <a:lnTo>
                    <a:pt x="3912499" y="0"/>
                  </a:lnTo>
                  <a:lnTo>
                    <a:pt x="3912499" y="3988793"/>
                  </a:lnTo>
                  <a:lnTo>
                    <a:pt x="0" y="3988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3912499" y="330600"/>
              <a:ext cx="5853108" cy="3658193"/>
            </a:xfrm>
            <a:custGeom>
              <a:avLst/>
              <a:gdLst/>
              <a:ahLst/>
              <a:cxnLst/>
              <a:rect l="l" t="t" r="r" b="b"/>
              <a:pathLst>
                <a:path w="5853108" h="3658193">
                  <a:moveTo>
                    <a:pt x="0" y="0"/>
                  </a:moveTo>
                  <a:lnTo>
                    <a:pt x="5853109" y="0"/>
                  </a:lnTo>
                  <a:lnTo>
                    <a:pt x="5853109" y="3658193"/>
                  </a:lnTo>
                  <a:lnTo>
                    <a:pt x="0" y="3658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45982" y="1641160"/>
            <a:ext cx="11021062" cy="357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 Platform Analytics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04714" y="8816975"/>
            <a:ext cx="38832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6" tooltip="https://github.com/oxturtle/nicosys-portfolio-ecom"/>
              </a:rPr>
              <a:t>Portfolio Link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859" y="1139692"/>
            <a:ext cx="303771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Nico Rafael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1479417"/>
            <a:ext cx="763563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&amp; Goal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823448"/>
            <a:ext cx="15574634" cy="534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purpose of this project was to provide insight across a business’s ecommerce platforms: TikTok Shop and Squarespace. </a:t>
            </a:r>
          </a:p>
          <a:p>
            <a:pPr algn="just">
              <a:lnSpc>
                <a:spcPts val="3249"/>
              </a:lnSpc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is a replication of an experience I had working with a local business using synthetic datasets. The results and recommendations in this project are similar to what I provided to the real business.</a:t>
            </a:r>
          </a:p>
          <a:p>
            <a:pPr algn="just">
              <a:lnSpc>
                <a:spcPts val="3249"/>
              </a:lnSpc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 the past two years, the owner had noticed sales were going down, and it was growing more challenging to get views on social media.</a:t>
            </a:r>
          </a:p>
          <a:p>
            <a:pPr algn="just">
              <a:lnSpc>
                <a:spcPts val="3249"/>
              </a:lnSpc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2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 identified top selling products, regions that made the most purchses, and opportunities to increase sales overall.</a:t>
            </a:r>
          </a:p>
          <a:p>
            <a:pPr algn="just">
              <a:lnSpc>
                <a:spcPts val="3249"/>
              </a:lnSpc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221587" y="1139692"/>
            <a:ext cx="303771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Nico Rafael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47314" y="8816975"/>
            <a:ext cx="49119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Po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r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tfo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lio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2423929" y="3592679"/>
            <a:ext cx="13440142" cy="3101643"/>
            <a:chOff x="0" y="0"/>
            <a:chExt cx="17920189" cy="41355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19548" cy="4135524"/>
            </a:xfrm>
            <a:custGeom>
              <a:avLst/>
              <a:gdLst/>
              <a:ahLst/>
              <a:cxnLst/>
              <a:rect l="l" t="t" r="r" b="b"/>
              <a:pathLst>
                <a:path w="3719548" h="4135524">
                  <a:moveTo>
                    <a:pt x="0" y="0"/>
                  </a:moveTo>
                  <a:lnTo>
                    <a:pt x="3719548" y="0"/>
                  </a:lnTo>
                  <a:lnTo>
                    <a:pt x="3719548" y="4135524"/>
                  </a:lnTo>
                  <a:lnTo>
                    <a:pt x="0" y="4135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3441436" y="824358"/>
              <a:ext cx="4420990" cy="2486807"/>
            </a:xfrm>
            <a:custGeom>
              <a:avLst/>
              <a:gdLst/>
              <a:ahLst/>
              <a:cxnLst/>
              <a:rect l="l" t="t" r="r" b="b"/>
              <a:pathLst>
                <a:path w="4420990" h="2486807">
                  <a:moveTo>
                    <a:pt x="0" y="0"/>
                  </a:moveTo>
                  <a:lnTo>
                    <a:pt x="4420991" y="0"/>
                  </a:lnTo>
                  <a:lnTo>
                    <a:pt x="4420991" y="2486807"/>
                  </a:lnTo>
                  <a:lnTo>
                    <a:pt x="0" y="2486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289941" y="445548"/>
              <a:ext cx="5767870" cy="3244427"/>
            </a:xfrm>
            <a:custGeom>
              <a:avLst/>
              <a:gdLst/>
              <a:ahLst/>
              <a:cxnLst/>
              <a:rect l="l" t="t" r="r" b="b"/>
              <a:pathLst>
                <a:path w="5767870" h="3244427">
                  <a:moveTo>
                    <a:pt x="0" y="0"/>
                  </a:moveTo>
                  <a:lnTo>
                    <a:pt x="5767871" y="0"/>
                  </a:lnTo>
                  <a:lnTo>
                    <a:pt x="5767871" y="3244427"/>
                  </a:lnTo>
                  <a:lnTo>
                    <a:pt x="0" y="324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4630348" y="582193"/>
              <a:ext cx="3289841" cy="2971138"/>
            </a:xfrm>
            <a:custGeom>
              <a:avLst/>
              <a:gdLst/>
              <a:ahLst/>
              <a:cxnLst/>
              <a:rect l="l" t="t" r="r" b="b"/>
              <a:pathLst>
                <a:path w="3289841" h="2971138">
                  <a:moveTo>
                    <a:pt x="0" y="0"/>
                  </a:moveTo>
                  <a:lnTo>
                    <a:pt x="3289841" y="0"/>
                  </a:lnTo>
                  <a:lnTo>
                    <a:pt x="3289841" y="2971138"/>
                  </a:lnTo>
                  <a:lnTo>
                    <a:pt x="0" y="2971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9980403" y="533129"/>
              <a:ext cx="5456471" cy="3069265"/>
            </a:xfrm>
            <a:custGeom>
              <a:avLst/>
              <a:gdLst/>
              <a:ahLst/>
              <a:cxnLst/>
              <a:rect l="l" t="t" r="r" b="b"/>
              <a:pathLst>
                <a:path w="5456471" h="3069265">
                  <a:moveTo>
                    <a:pt x="0" y="0"/>
                  </a:moveTo>
                  <a:lnTo>
                    <a:pt x="5456471" y="0"/>
                  </a:lnTo>
                  <a:lnTo>
                    <a:pt x="5456471" y="3069266"/>
                  </a:lnTo>
                  <a:lnTo>
                    <a:pt x="0" y="3069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479417"/>
            <a:ext cx="763563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Tools Used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21587" y="1139692"/>
            <a:ext cx="303771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Nico Rafael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47314" y="8816975"/>
            <a:ext cx="49119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9" tooltip="https://github.com/oxturtle/nicosys-portfolio-ecom"/>
              </a:rPr>
              <a:t>Po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9" tooltip="https://github.com/oxturtle/nicosys-portfolio-ecom"/>
              </a:rPr>
              <a:t>r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9" tooltip="https://github.com/oxturtle/nicosys-portfolio-ecom"/>
              </a:rPr>
              <a:t>tfo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9" tooltip="https://github.com/oxturtle/nicosys-portfolio-ecom"/>
              </a:rPr>
              <a:t>lio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9" tooltip="https://github.com/oxturtle/nicosys-portfolio-ecom"/>
              </a:rPr>
              <a:t>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131767" y="3700167"/>
            <a:ext cx="3383338" cy="3580251"/>
          </a:xfrm>
          <a:custGeom>
            <a:avLst/>
            <a:gdLst/>
            <a:ahLst/>
            <a:cxnLst/>
            <a:rect l="l" t="t" r="r" b="b"/>
            <a:pathLst>
              <a:path w="3383338" h="3580251">
                <a:moveTo>
                  <a:pt x="0" y="0"/>
                </a:moveTo>
                <a:lnTo>
                  <a:pt x="3383338" y="0"/>
                </a:lnTo>
                <a:lnTo>
                  <a:pt x="3383338" y="3580251"/>
                </a:lnTo>
                <a:lnTo>
                  <a:pt x="0" y="3580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89765" y="3446145"/>
            <a:ext cx="11947626" cy="501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Imported raw datasets from TikTok and Squarespace including gross and net sales, product, and customer data. 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Standardized formats and handled missing values (coalesced null values) for consistent calculations and accounted for gaps in daily sales metrics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Modeled data using SQL joins to build analysis-ready table that shows total sales of the business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Produced final visualizations in Power BI and portfolio reporting such as top-selling products, top purchasing locations, and platform sales comparison</a:t>
            </a:r>
          </a:p>
        </p:txBody>
      </p:sp>
      <p:sp>
        <p:nvSpPr>
          <p:cNvPr id="9" name="Freeform 9"/>
          <p:cNvSpPr/>
          <p:nvPr/>
        </p:nvSpPr>
        <p:spPr>
          <a:xfrm>
            <a:off x="990600" y="3614442"/>
            <a:ext cx="649020" cy="649020"/>
          </a:xfrm>
          <a:custGeom>
            <a:avLst/>
            <a:gdLst/>
            <a:ahLst/>
            <a:cxnLst/>
            <a:rect l="l" t="t" r="r" b="b"/>
            <a:pathLst>
              <a:path w="649020" h="649020">
                <a:moveTo>
                  <a:pt x="0" y="0"/>
                </a:moveTo>
                <a:lnTo>
                  <a:pt x="649020" y="0"/>
                </a:lnTo>
                <a:lnTo>
                  <a:pt x="649020" y="649019"/>
                </a:lnTo>
                <a:lnTo>
                  <a:pt x="0" y="6490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07859" y="1139692"/>
            <a:ext cx="303771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Nico Rafael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81793" y="8816975"/>
            <a:ext cx="38832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6" tooltip="https://github.com/oxturtle/nicosys-portfolio-ecom"/>
              </a:rPr>
              <a:t>Po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6" tooltip="https://github.com/oxturtle/nicosys-portfolio-ecom"/>
              </a:rPr>
              <a:t>r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6" tooltip="https://github.com/oxturtle/nicosys-portfolio-ecom"/>
              </a:rPr>
              <a:t>tfo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6" tooltip="https://github.com/oxturtle/nicosys-portfolio-ecom"/>
              </a:rPr>
              <a:t>lio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6" tooltip="https://github.com/oxturtle/nicosys-portfolio-ecom"/>
              </a:rPr>
              <a:t> Link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207260"/>
            <a:ext cx="13596835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SQL and Modeling Workflow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28700" y="4907824"/>
            <a:ext cx="649020" cy="649020"/>
          </a:xfrm>
          <a:custGeom>
            <a:avLst/>
            <a:gdLst/>
            <a:ahLst/>
            <a:cxnLst/>
            <a:rect l="l" t="t" r="r" b="b"/>
            <a:pathLst>
              <a:path w="649020" h="649020">
                <a:moveTo>
                  <a:pt x="0" y="0"/>
                </a:moveTo>
                <a:lnTo>
                  <a:pt x="649020" y="0"/>
                </a:lnTo>
                <a:lnTo>
                  <a:pt x="649020" y="649019"/>
                </a:lnTo>
                <a:lnTo>
                  <a:pt x="0" y="6490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28700" y="6099768"/>
            <a:ext cx="649020" cy="649020"/>
          </a:xfrm>
          <a:custGeom>
            <a:avLst/>
            <a:gdLst/>
            <a:ahLst/>
            <a:cxnLst/>
            <a:rect l="l" t="t" r="r" b="b"/>
            <a:pathLst>
              <a:path w="649020" h="649020">
                <a:moveTo>
                  <a:pt x="0" y="0"/>
                </a:moveTo>
                <a:lnTo>
                  <a:pt x="649020" y="0"/>
                </a:lnTo>
                <a:lnTo>
                  <a:pt x="649020" y="649020"/>
                </a:lnTo>
                <a:lnTo>
                  <a:pt x="0" y="649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90600" y="7396488"/>
            <a:ext cx="649020" cy="649020"/>
          </a:xfrm>
          <a:custGeom>
            <a:avLst/>
            <a:gdLst/>
            <a:ahLst/>
            <a:cxnLst/>
            <a:rect l="l" t="t" r="r" b="b"/>
            <a:pathLst>
              <a:path w="649020" h="649020">
                <a:moveTo>
                  <a:pt x="0" y="0"/>
                </a:moveTo>
                <a:lnTo>
                  <a:pt x="649020" y="0"/>
                </a:lnTo>
                <a:lnTo>
                  <a:pt x="649020" y="649020"/>
                </a:lnTo>
                <a:lnTo>
                  <a:pt x="0" y="649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10" y="5114652"/>
            <a:ext cx="5339179" cy="5095578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852516" y="3529043"/>
            <a:ext cx="3995569" cy="1130999"/>
            <a:chOff x="0" y="47625"/>
            <a:chExt cx="5327425" cy="1507998"/>
          </a:xfrm>
        </p:grpSpPr>
        <p:sp>
          <p:nvSpPr>
            <p:cNvPr id="9" name="TextBox 9"/>
            <p:cNvSpPr txBox="1"/>
            <p:nvPr/>
          </p:nvSpPr>
          <p:spPr>
            <a:xfrm>
              <a:off x="0" y="598096"/>
              <a:ext cx="5327425" cy="957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5800" spc="-69" dirty="0">
                  <a:solidFill>
                    <a:srgbClr val="FFDE59"/>
                  </a:solidFill>
                  <a:latin typeface="Impact"/>
                  <a:ea typeface="Impact"/>
                  <a:cs typeface="Impact"/>
                  <a:sym typeface="Impact"/>
                </a:rPr>
                <a:t>$1.3 MILLION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625"/>
              <a:ext cx="5327425" cy="486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n-US" sz="2645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Total Earnings</a:t>
              </a:r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3439" y="5229666"/>
            <a:ext cx="6904820" cy="5111035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682495" y="4638834"/>
            <a:ext cx="4477583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TikTok Shop generated 74% of sales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21086" y="4638834"/>
            <a:ext cx="530952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18% more sales generated than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other purchasing states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570" y="5011436"/>
            <a:ext cx="6577780" cy="5302012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6840" y="-863975"/>
            <a:ext cx="11372476" cy="5047831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6631675" y="3529043"/>
            <a:ext cx="3995569" cy="1130999"/>
            <a:chOff x="0" y="47625"/>
            <a:chExt cx="5327425" cy="1507998"/>
          </a:xfrm>
        </p:grpSpPr>
        <p:sp>
          <p:nvSpPr>
            <p:cNvPr id="17" name="TextBox 17"/>
            <p:cNvSpPr txBox="1"/>
            <p:nvPr/>
          </p:nvSpPr>
          <p:spPr>
            <a:xfrm>
              <a:off x="0" y="598096"/>
              <a:ext cx="5327425" cy="957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5800" spc="-69" dirty="0">
                  <a:solidFill>
                    <a:srgbClr val="FFDE59"/>
                  </a:solidFill>
                  <a:latin typeface="Impact"/>
                  <a:ea typeface="Impact"/>
                  <a:cs typeface="Impact"/>
                  <a:sym typeface="Impact"/>
                </a:rPr>
                <a:t>$251,075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5327425" cy="486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n-US" sz="2645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Top Product Earnings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875842" y="4638834"/>
            <a:ext cx="550723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70% of Squarespace sales generated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Anime Mystery Box and Naruto Hoodie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978065" y="3529043"/>
            <a:ext cx="3995569" cy="1130999"/>
            <a:chOff x="0" y="47625"/>
            <a:chExt cx="5327425" cy="1507998"/>
          </a:xfrm>
        </p:grpSpPr>
        <p:sp>
          <p:nvSpPr>
            <p:cNvPr id="21" name="TextBox 21"/>
            <p:cNvSpPr txBox="1"/>
            <p:nvPr/>
          </p:nvSpPr>
          <p:spPr>
            <a:xfrm>
              <a:off x="0" y="598096"/>
              <a:ext cx="5327425" cy="957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87"/>
                </a:lnSpc>
              </a:pPr>
              <a:r>
                <a:rPr lang="en-US" sz="5800" spc="-69" dirty="0">
                  <a:solidFill>
                    <a:srgbClr val="FFDE59"/>
                  </a:solidFill>
                  <a:latin typeface="Impact"/>
                  <a:ea typeface="Impact"/>
                  <a:cs typeface="Impact"/>
                  <a:sym typeface="Impact"/>
                </a:rPr>
                <a:t>$208,533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47625"/>
              <a:ext cx="5327425" cy="486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</a:pPr>
              <a:r>
                <a:rPr lang="en-US" sz="264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Top Purchasing States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1310402"/>
            <a:ext cx="3895585" cy="125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302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4220769" y="1139692"/>
            <a:ext cx="303771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Nico Rafael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88007" y="8800034"/>
            <a:ext cx="49119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Po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r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tfo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lio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oxturtle/nicosys-portfolio-ecom"/>
              </a:rPr>
              <a:t> Link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70480" y="1714849"/>
            <a:ext cx="1234704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</a:t>
            </a:r>
            <a:r>
              <a:rPr lang="en-US" sz="60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RECOMMENDATIONS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344602" y="3125031"/>
            <a:ext cx="13690260" cy="777240"/>
            <a:chOff x="0" y="0"/>
            <a:chExt cx="18253680" cy="1036320"/>
          </a:xfrm>
        </p:grpSpPr>
        <p:sp>
          <p:nvSpPr>
            <p:cNvPr id="11" name="Freeform 11"/>
            <p:cNvSpPr/>
            <p:nvPr/>
          </p:nvSpPr>
          <p:spPr>
            <a:xfrm>
              <a:off x="0" y="85774"/>
              <a:ext cx="834504" cy="864771"/>
            </a:xfrm>
            <a:custGeom>
              <a:avLst/>
              <a:gdLst/>
              <a:ahLst/>
              <a:cxnLst/>
              <a:rect l="l" t="t" r="r" b="b"/>
              <a:pathLst>
                <a:path w="834504" h="864771">
                  <a:moveTo>
                    <a:pt x="0" y="0"/>
                  </a:moveTo>
                  <a:lnTo>
                    <a:pt x="834504" y="0"/>
                  </a:lnTo>
                  <a:lnTo>
                    <a:pt x="834504" y="864772"/>
                  </a:lnTo>
                  <a:lnTo>
                    <a:pt x="0" y="864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2996" y="-66675"/>
              <a:ext cx="17100684" cy="1102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Increase marketing investment toward top‑selling products across TikTok Shop and Squarespace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44602" y="6358994"/>
            <a:ext cx="13690260" cy="777240"/>
            <a:chOff x="0" y="0"/>
            <a:chExt cx="18253680" cy="1036320"/>
          </a:xfrm>
        </p:grpSpPr>
        <p:sp>
          <p:nvSpPr>
            <p:cNvPr id="14" name="Freeform 14"/>
            <p:cNvSpPr/>
            <p:nvPr/>
          </p:nvSpPr>
          <p:spPr>
            <a:xfrm>
              <a:off x="0" y="85774"/>
              <a:ext cx="834504" cy="864771"/>
            </a:xfrm>
            <a:custGeom>
              <a:avLst/>
              <a:gdLst/>
              <a:ahLst/>
              <a:cxnLst/>
              <a:rect l="l" t="t" r="r" b="b"/>
              <a:pathLst>
                <a:path w="834504" h="864771">
                  <a:moveTo>
                    <a:pt x="0" y="0"/>
                  </a:moveTo>
                  <a:lnTo>
                    <a:pt x="834504" y="0"/>
                  </a:lnTo>
                  <a:lnTo>
                    <a:pt x="834504" y="864772"/>
                  </a:lnTo>
                  <a:lnTo>
                    <a:pt x="0" y="864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52996" y="-66675"/>
              <a:ext cx="17100684" cy="1102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Further investigate Squarespace operational and marketing performance to improve platform‑specific sales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344602" y="7479869"/>
            <a:ext cx="13690260" cy="777240"/>
            <a:chOff x="0" y="0"/>
            <a:chExt cx="18253680" cy="1036320"/>
          </a:xfrm>
        </p:grpSpPr>
        <p:sp>
          <p:nvSpPr>
            <p:cNvPr id="17" name="Freeform 17"/>
            <p:cNvSpPr/>
            <p:nvPr/>
          </p:nvSpPr>
          <p:spPr>
            <a:xfrm>
              <a:off x="0" y="85774"/>
              <a:ext cx="834504" cy="864771"/>
            </a:xfrm>
            <a:custGeom>
              <a:avLst/>
              <a:gdLst/>
              <a:ahLst/>
              <a:cxnLst/>
              <a:rect l="l" t="t" r="r" b="b"/>
              <a:pathLst>
                <a:path w="834504" h="864771">
                  <a:moveTo>
                    <a:pt x="0" y="0"/>
                  </a:moveTo>
                  <a:lnTo>
                    <a:pt x="834504" y="0"/>
                  </a:lnTo>
                  <a:lnTo>
                    <a:pt x="834504" y="864772"/>
                  </a:lnTo>
                  <a:lnTo>
                    <a:pt x="0" y="864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2996" y="-66675"/>
              <a:ext cx="17100684" cy="1102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Analyze the remaining product catalog to determine opportunities for increasing sales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44602" y="4245906"/>
            <a:ext cx="13690260" cy="648578"/>
            <a:chOff x="0" y="0"/>
            <a:chExt cx="18253680" cy="8647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34504" cy="864771"/>
            </a:xfrm>
            <a:custGeom>
              <a:avLst/>
              <a:gdLst/>
              <a:ahLst/>
              <a:cxnLst/>
              <a:rect l="l" t="t" r="r" b="b"/>
              <a:pathLst>
                <a:path w="834504" h="864771">
                  <a:moveTo>
                    <a:pt x="0" y="0"/>
                  </a:moveTo>
                  <a:lnTo>
                    <a:pt x="834504" y="0"/>
                  </a:lnTo>
                  <a:lnTo>
                    <a:pt x="834504" y="864771"/>
                  </a:lnTo>
                  <a:lnTo>
                    <a:pt x="0" y="864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2996" y="126951"/>
              <a:ext cx="17100684" cy="5441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Prioritize marketing in Texas, California, and Florida with top‑selling products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344602" y="5238119"/>
            <a:ext cx="13690260" cy="777240"/>
            <a:chOff x="0" y="0"/>
            <a:chExt cx="18253680" cy="1036320"/>
          </a:xfrm>
        </p:grpSpPr>
        <p:sp>
          <p:nvSpPr>
            <p:cNvPr id="23" name="Freeform 23"/>
            <p:cNvSpPr/>
            <p:nvPr/>
          </p:nvSpPr>
          <p:spPr>
            <a:xfrm>
              <a:off x="0" y="85774"/>
              <a:ext cx="834504" cy="864771"/>
            </a:xfrm>
            <a:custGeom>
              <a:avLst/>
              <a:gdLst/>
              <a:ahLst/>
              <a:cxnLst/>
              <a:rect l="l" t="t" r="r" b="b"/>
              <a:pathLst>
                <a:path w="834504" h="864771">
                  <a:moveTo>
                    <a:pt x="0" y="0"/>
                  </a:moveTo>
                  <a:lnTo>
                    <a:pt x="834504" y="0"/>
                  </a:lnTo>
                  <a:lnTo>
                    <a:pt x="834504" y="864772"/>
                  </a:lnTo>
                  <a:lnTo>
                    <a:pt x="0" y="864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2996" y="-66675"/>
              <a:ext cx="17100684" cy="1102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Explore additional product opportunities or in‑person sales channels, including targeted marketing and live events in high‑purchasing states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606433" y="1568155"/>
            <a:ext cx="5475039" cy="5173912"/>
          </a:xfrm>
          <a:custGeom>
            <a:avLst/>
            <a:gdLst/>
            <a:ahLst/>
            <a:cxnLst/>
            <a:rect l="l" t="t" r="r" b="b"/>
            <a:pathLst>
              <a:path w="5475039" h="5173912">
                <a:moveTo>
                  <a:pt x="0" y="0"/>
                </a:moveTo>
                <a:lnTo>
                  <a:pt x="5475040" y="0"/>
                </a:lnTo>
                <a:lnTo>
                  <a:pt x="5475040" y="5173912"/>
                </a:lnTo>
                <a:lnTo>
                  <a:pt x="0" y="5173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07859" y="1139692"/>
            <a:ext cx="303771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Nico Rafael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61073" y="8816975"/>
            <a:ext cx="491198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oxturtle/nicosys-portfolio-ecom"/>
              </a:rPr>
              <a:t>Po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oxturtle/nicosys-portfolio-ecom"/>
              </a:rPr>
              <a:t>r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oxturtle/nicosys-portfolio-ecom"/>
              </a:rPr>
              <a:t>tfo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oxturtle/nicosys-portfolio-ecom"/>
              </a:rPr>
              <a:t>lio</a:t>
            </a:r>
            <a:r>
              <a:rPr lang="en-US" sz="24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oxturtle/nicosys-portfolio-ecom"/>
              </a:rPr>
              <a:t> Link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357775"/>
            <a:ext cx="8115300" cy="97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510073"/>
            <a:ext cx="9476446" cy="522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Identifying top-selling products resulted in 30% savings in the marketing budget. A clearance sale of all other products was used as an opportunity to clear out inventory and promote the company’s rebrand.</a:t>
            </a:r>
          </a:p>
          <a:p>
            <a:pPr algn="l">
              <a:lnSpc>
                <a:spcPts val="2925"/>
              </a:lnSpc>
            </a:pPr>
            <a:endParaRPr lang="en-US" sz="226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25"/>
              </a:lnSpc>
            </a:pPr>
            <a:r>
              <a:rPr lang="en-US" sz="22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Moving forward, the business will be focusing on an anime trivia card game that is expected to sell consistently throughout the year and not just during winter/ holiday season. I recommend focusing on the new hero product, but still keeping the top sellers or at least have them as seasonal items only. </a:t>
            </a:r>
          </a:p>
          <a:p>
            <a:pPr algn="l">
              <a:lnSpc>
                <a:spcPts val="2925"/>
              </a:lnSpc>
            </a:pPr>
            <a:endParaRPr lang="en-US" sz="226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25"/>
              </a:lnSpc>
            </a:pPr>
            <a:r>
              <a:rPr lang="en-US" sz="22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While this is a synthetic dataset, you can view the progress we’ve made with the real business </a:t>
            </a:r>
            <a:r>
              <a:rPr lang="en-US" sz="226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6" tooltip="https://www.allineedisanime.com"/>
              </a:rPr>
              <a:t>here</a:t>
            </a:r>
          </a:p>
          <a:p>
            <a:pPr algn="l">
              <a:lnSpc>
                <a:spcPts val="2925"/>
              </a:lnSpc>
            </a:pPr>
            <a:endParaRPr lang="en-US" sz="2267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  <a:hlinkClick r:id="rId6" tooltip="https://www.allineedisanime.co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15651" y="3730025"/>
            <a:ext cx="9056698" cy="18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01144" y="7516495"/>
            <a:ext cx="6085713" cy="50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nrafael@gmail.com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5144" y="1139692"/>
            <a:ext cx="303771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Nico Rafael</a:t>
            </a:r>
          </a:p>
        </p:txBody>
      </p:sp>
      <p:sp>
        <p:nvSpPr>
          <p:cNvPr id="9" name="Freeform 9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87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4127791" y="2638461"/>
            <a:ext cx="10032418" cy="843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FFDE59"/>
                </a:solidFill>
                <a:latin typeface="Poppins"/>
                <a:ea typeface="Poppins"/>
                <a:cs typeface="Poppins"/>
                <a:sym typeface="Poppins"/>
              </a:rPr>
              <a:t>For full details and a breakdown of this project, please refer to my GitHub below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01144" y="6750068"/>
            <a:ext cx="6085713" cy="50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4" tooltip="https://www.linkedin.com/in/nrafael/"/>
              </a:rPr>
              <a:t>LinkedIn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88007" y="5983640"/>
            <a:ext cx="4911986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sng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oxturtle/nicosys-portfolio-ecom"/>
              </a:rPr>
              <a:t>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479</Words>
  <Application>Microsoft Office PowerPoint</Application>
  <PresentationFormat>Custom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Poppins</vt:lpstr>
      <vt:lpstr>Poppins Bold</vt:lpstr>
      <vt:lpstr>Montserrat</vt:lpstr>
      <vt:lpstr>Calibri</vt:lpstr>
      <vt:lpstr>Arial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Platform Analysts Presentation Nico Rafael</dc:title>
  <cp:lastModifiedBy>Nico Rafael</cp:lastModifiedBy>
  <cp:revision>2</cp:revision>
  <dcterms:created xsi:type="dcterms:W3CDTF">2006-08-16T00:00:00Z</dcterms:created>
  <dcterms:modified xsi:type="dcterms:W3CDTF">2026-08-08T06:22:18Z</dcterms:modified>
  <dc:identifier>DAHRer7OQuA</dc:identifier>
</cp:coreProperties>
</file>